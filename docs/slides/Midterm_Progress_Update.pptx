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011680" cy="76200"/>
          </a:xfrm>
          <a:prstGeom prst="rect">
            <a:avLst/>
          </a:prstGeom>
          <a:solidFill>
            <a:srgbClr val="1E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Comparative Study of Fine-Tuning, RAG, and Hybrid Models</a:t>
            </a:r>
            <a:br/>
            <a:r>
              <a:t>for Code Completion in Enterprise 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6FEB"/>
                </a:solidFill>
                <a:latin typeface="Calibri"/>
              </a:defRPr>
            </a:pPr>
            <a:r>
              <a:t>Mid-Term Progress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6E8"/>
                </a:solidFill>
                <a:latin typeface="Calibri"/>
              </a:defRPr>
            </a:pPr>
            <a:r>
              <a:t>Nidwija Bhatta</a:t>
            </a:r>
          </a:p>
          <a:p>
            <a:pPr>
              <a:defRPr sz="1300">
                <a:solidFill>
                  <a:srgbClr val="C9D6E8"/>
                </a:solidFill>
                <a:latin typeface="Calibri"/>
              </a:defRPr>
            </a:pPr>
            <a:r>
              <a:t>nidwija.bhatta@cotiviti.com</a:t>
            </a:r>
          </a:p>
          <a:p>
            <a:pPr>
              <a:defRPr sz="1300">
                <a:solidFill>
                  <a:srgbClr val="C9D6E8"/>
                </a:solidFill>
                <a:latin typeface="Calibri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Problem and motivation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Research questions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Proposed system overview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Datasets and data pipeline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Implementation progress so far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Evaluation plan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Timeline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and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Modern code completion models perform well on general programming tasks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They struggle inside enterprise repositories that depend on internal APIs, cross file references, and shared utility modules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Benchmarks such as RepoBench and CrossCodeEval show that multi file completion is still hard even for strong pretrained code models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Enterprise teams need completion systems that understand their own codebase, not just general syntax and public library usage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This project studies whether combining retrieval with model adaptation closes that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RQ1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Does repository level retrieval improve completion accuracy compared to standalone fine tuning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RQ2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Does fine tuning improve how well a model uses retrieved context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RQ3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Does a hybrid approach outperform both individual baselines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RQ4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What retrieval strategy best supports enterprise repository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Systems Under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67" y="1737360"/>
            <a:ext cx="3566160" cy="3931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600">
                <a:solidFill>
                  <a:srgbClr val="142A4A"/>
                </a:solidFill>
                <a:latin typeface="Calibri"/>
              </a:defRPr>
            </a:pPr>
            <a:r>
              <a:t>RAG Only</a:t>
            </a:r>
          </a:p>
          <a:p>
            <a:pPr>
              <a:spcAft>
                <a:spcPts val="800"/>
              </a:spcAft>
              <a:defRPr sz="1300">
                <a:solidFill>
                  <a:srgbClr val="2B2E33"/>
                </a:solidFill>
                <a:latin typeface="Calibri"/>
              </a:defRPr>
            </a:pPr>
            <a:r>
              <a:t>-  Retrieval context injected into a frozen code language model</a:t>
            </a:r>
          </a:p>
          <a:p>
            <a:pPr>
              <a:spcAft>
                <a:spcPts val="800"/>
              </a:spcAft>
              <a:defRPr sz="1300">
                <a:solidFill>
                  <a:srgbClr val="2B2E33"/>
                </a:solidFill>
                <a:latin typeface="Calibri"/>
              </a:defRPr>
            </a:pPr>
            <a:r>
              <a:t>-  No training involved</a:t>
            </a:r>
          </a:p>
          <a:p>
            <a:pPr>
              <a:spcAft>
                <a:spcPts val="800"/>
              </a:spcAft>
              <a:defRPr sz="1300">
                <a:solidFill>
                  <a:srgbClr val="2B2E33"/>
                </a:solidFill>
                <a:latin typeface="Calibri"/>
              </a:defRPr>
            </a:pPr>
            <a:r>
              <a:t>-  Baseline for retrieval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1737360"/>
            <a:ext cx="3566160" cy="3931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600">
                <a:solidFill>
                  <a:srgbClr val="142A4A"/>
                </a:solidFill>
                <a:latin typeface="Calibri"/>
              </a:defRPr>
            </a:pPr>
            <a:r>
              <a:t>Fine-Tuning Only</a:t>
            </a:r>
          </a:p>
          <a:p>
            <a:pPr>
              <a:spcAft>
                <a:spcPts val="800"/>
              </a:spcAft>
              <a:defRPr sz="1300">
                <a:solidFill>
                  <a:srgbClr val="2B2E33"/>
                </a:solidFill>
                <a:latin typeface="Calibri"/>
              </a:defRPr>
            </a:pPr>
            <a:r>
              <a:t>-  Project adapted model using QLoRA</a:t>
            </a:r>
          </a:p>
          <a:p>
            <a:pPr>
              <a:spcAft>
                <a:spcPts val="800"/>
              </a:spcAft>
              <a:defRPr sz="1300">
                <a:solidFill>
                  <a:srgbClr val="2B2E33"/>
                </a:solidFill>
                <a:latin typeface="Calibri"/>
              </a:defRPr>
            </a:pPr>
            <a:r>
              <a:t>-  No retrieval at inference time</a:t>
            </a:r>
          </a:p>
          <a:p>
            <a:pPr>
              <a:spcAft>
                <a:spcPts val="800"/>
              </a:spcAft>
              <a:defRPr sz="1300">
                <a:solidFill>
                  <a:srgbClr val="2B2E33"/>
                </a:solidFill>
                <a:latin typeface="Calibri"/>
              </a:defRPr>
            </a:pPr>
            <a:r>
              <a:t>-  Baseline for adaptation 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8967" y="1737360"/>
            <a:ext cx="3566160" cy="3931920"/>
          </a:xfrm>
          <a:prstGeom prst="roundRect">
            <a:avLst/>
          </a:prstGeom>
          <a:solidFill>
            <a:srgbClr val="1E8C5A"/>
          </a:solidFill>
          <a:ln w="19050">
            <a:solidFill>
              <a:srgbClr val="1E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600">
                <a:solidFill>
                  <a:srgbClr val="FFFFFF"/>
                </a:solidFill>
                <a:latin typeface="Calibri"/>
              </a:defRPr>
            </a:pPr>
            <a:r>
              <a:t>PROPOSED  Hybrid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Retrieved context fed into the fine tuned model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Combines adaptation with retrieval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Main contribution of this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Baseline 1: RAG Only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2133752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40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Code Chunking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256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572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Vector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888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Retriever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204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0520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-213512" y="2148840.0"/>
            <a:ext cx="502919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0964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3280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596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7912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90228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 base language model stays frozen, nothing is trained in this baseline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Retrieval brings in relevant code snippets from the repository at inference time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Embedding model used is microsoft unixcoder base, a code specific embedding model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Vector search is done with FAISS using cosine 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Baseline 2: Fine-Tuning Only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922172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Repository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098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Training Pair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2414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Fine-Tuning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730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Model Fine-Tuning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046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Project-Adapted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9362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8068" y="2148840.0"/>
            <a:ext cx="502919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2122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4438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6754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9070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No retrieval happens at inference time in this baseline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 model learns repository specific patterns directly through training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Uses QLoRA, four bit quantization combined with low rank adapters, which is memory efficient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Same base model, Qwen2.5-Coder-1.5B, as the other two systems for a fair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System: Hybrid RAG + Fine-Tuning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40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256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Retriever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572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Relevant Code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8887" y="1737360"/>
            <a:ext cx="1920240" cy="822960"/>
          </a:xfrm>
          <a:prstGeom prst="roundRect">
            <a:avLst/>
          </a:prstGeom>
          <a:solidFill>
            <a:srgbClr val="1E8C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Fine-Tuned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204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0964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3280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5596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7912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Combines dynamic retrieval with a model that is already adapted to the project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This is the core contribution of the thesis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Uses the same base model and the same memory budget as both baselines, so any difference in results comes from the architecture, not from a bigger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RepoBench, Python v1.1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Full repositories with cross file completion tasks and retrieval benchmarks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CrossCodeEval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Cross file dependency tasks that include ground truth relevant files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 same two datasets are used across all three systems for a fair, apples to apples comparison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These are not used as a typical single train and test split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Both datasets are converted into one shared format and then used for training, for building the retrieval index, and for the final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Preparation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40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RepoBench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256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CrossCodeEval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572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Preprocessing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8887" y="1737360"/>
            <a:ext cx="1920240" cy="82296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Unified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2047" y="1737360"/>
            <a:ext cx="1920240" cy="82296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Train / Val /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0964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3280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5596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79127" y="2148840.0"/>
            <a:ext cx="502920" cy="0.0"/>
          </a:xfrm>
          <a:prstGeom prst="line">
            <a:avLst/>
          </a:prstGeom>
          <a:ln w="28575">
            <a:solidFill>
              <a:srgbClr val="8A8F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Preprocessing converts both datasets into one format: input, output, and relevant files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Examples are grouped by repository before splitting, so no repository appears in both the training set and the test set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 same unified format lets identical evaluation code run on all three systems without special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7607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Completion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Prediction equals ground truth exactly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Completion quality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Edit Similarity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Levenshtein distance based similarity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Completion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Identifier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Correct function, class, and variable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Completion quality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CodeBLEU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Blends n-gram, syntax, and semantic similarity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Retrieval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Precision at K / Recall at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How many retrieved files are actually relevant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Retrieval quality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Mean Reciprocal Rank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How high the first relevant file is ranked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Latency and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Retrieval time, inference time, GPU and CPU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Progress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3108960"/>
              </a:tblGrid>
              <a:tr h="44057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Project setup and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Code chunking for retrieval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Code embedding and FAISS 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Retriever (query to context)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Fine-tuning trainer (QLoRA)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Hybrid inference pipeline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Evaluation metrics and comparison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Dataset download scripts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Dataset preprocessing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8C5A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B2E33"/>
                          </a:solidFill>
                          <a:latin typeface="Calibri"/>
                        </a:defRPr>
                      </a:pPr>
                      <a:r>
                        <a:t>Running full training and generating results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C98A11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Has Actually Been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A full data pipeline that downloads, cleans, and converts two different public datasets into one shared format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A retrieval system covering chunking, code specific embeddings, and FAISS vector search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A fine-tuning system using QLoRA to adapt a code language model to a specific repository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A hybrid architecture that fuses retrieval with a project adapted model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An evaluation framework covering multiple metrics, latency and memory tracking, and automatic report generation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The remaining work is running these systems at scale and analyzing the numbers they produce, not simply reading someone else's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017520"/>
            <a:ext cx="10545775" cy="0"/>
          </a:xfrm>
          <a:prstGeom prst="line">
            <a:avLst/>
          </a:prstGeom>
          <a:ln w="25400">
            <a:solidFill>
              <a:srgbClr val="8A8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8368" y="2852927"/>
            <a:ext cx="329184" cy="329184"/>
          </a:xfrm>
          <a:prstGeom prst="ellipse">
            <a:avLst/>
          </a:prstGeom>
          <a:solidFill>
            <a:srgbClr val="1E8C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91439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91439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8C5A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0" name="Oval 9"/>
          <p:cNvSpPr/>
          <p:nvPr/>
        </p:nvSpPr>
        <p:spPr>
          <a:xfrm>
            <a:off x="2415997" y="2852927"/>
            <a:ext cx="329184" cy="329184"/>
          </a:xfrm>
          <a:prstGeom prst="ellipse">
            <a:avLst/>
          </a:prstGeom>
          <a:solidFill>
            <a:srgbClr val="1E8C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6189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Dataset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189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8C5A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3" name="Oval 12"/>
          <p:cNvSpPr/>
          <p:nvPr/>
        </p:nvSpPr>
        <p:spPr>
          <a:xfrm>
            <a:off x="4173626" y="2852927"/>
            <a:ext cx="329184" cy="329184"/>
          </a:xfrm>
          <a:prstGeom prst="ellipse">
            <a:avLst/>
          </a:prstGeom>
          <a:solidFill>
            <a:srgbClr val="1E8C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3818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RAG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3818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8C5A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6" name="Oval 15"/>
          <p:cNvSpPr/>
          <p:nvPr/>
        </p:nvSpPr>
        <p:spPr>
          <a:xfrm>
            <a:off x="5931255" y="2852927"/>
            <a:ext cx="329184" cy="329184"/>
          </a:xfrm>
          <a:prstGeom prst="ellipse">
            <a:avLst/>
          </a:prstGeom>
          <a:solidFill>
            <a:srgbClr val="1E8C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Fine-Tuning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8C5A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9" name="Oval 18"/>
          <p:cNvSpPr/>
          <p:nvPr/>
        </p:nvSpPr>
        <p:spPr>
          <a:xfrm>
            <a:off x="7688884" y="2852927"/>
            <a:ext cx="329184" cy="329184"/>
          </a:xfrm>
          <a:prstGeom prst="ellipse">
            <a:avLst/>
          </a:prstGeom>
          <a:solidFill>
            <a:srgbClr val="1E8C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9076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Hybrid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9076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8C5A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22" name="Oval 21"/>
          <p:cNvSpPr/>
          <p:nvPr/>
        </p:nvSpPr>
        <p:spPr>
          <a:xfrm>
            <a:off x="9446514" y="2852927"/>
            <a:ext cx="329184" cy="329184"/>
          </a:xfrm>
          <a:prstGeom prst="ellipse">
            <a:avLst/>
          </a:prstGeom>
          <a:solidFill>
            <a:srgbClr val="C98A1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6706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Evaluation and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6706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98A11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5" name="Oval 24"/>
          <p:cNvSpPr/>
          <p:nvPr/>
        </p:nvSpPr>
        <p:spPr>
          <a:xfrm>
            <a:off x="11204143" y="2852927"/>
            <a:ext cx="329184" cy="329184"/>
          </a:xfrm>
          <a:prstGeom prst="ellipse">
            <a:avLst/>
          </a:prstGeom>
          <a:solidFill>
            <a:srgbClr val="8A8F9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54335" y="33375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E33"/>
                </a:solidFill>
                <a:latin typeface="Calibri"/>
              </a:defRPr>
            </a:pPr>
            <a:r>
              <a:t>Thesis Writeup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2331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8A8F98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B2E33"/>
                </a:solidFill>
                <a:latin typeface="Calibri"/>
              </a:defRPr>
            </a:pPr>
            <a:r>
              <a:t>Green = done      Amber = in progress      Gray = upcoming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Risks and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Limited GPU availability for fine tuning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Mitigated by using a small 1.5 billion parameter model with four bit quantization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Dataset schema differences between the official release and available mirrors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Mitigated by a preprocessing script that normalizes both formats and warns on mismatch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Risk that results look too close to prior published work</a:t>
            </a:r>
          </a:p>
          <a:p>
            <a:pPr>
              <a:spcAft>
                <a:spcPts val="600"/>
              </a:spcAft>
              <a:defRPr sz="1500">
                <a:solidFill>
                  <a:srgbClr val="2B2E33"/>
                </a:solidFill>
                <a:latin typeface="Calibri"/>
              </a:defRPr>
            </a:pPr>
            <a:r>
              <a:t>     - Mitigated by comparing directly against published baselines and clearly stating what is different in this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6FEB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Download RepoBench and CrossCodeEval and run the preprocessing script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Build the retrieval index over the target repository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Run fine tuning and save the adapted model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Run the full three system comparison and collect metrics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Compare results against published baselines from the literature</a:t>
            </a:r>
          </a:p>
          <a:p>
            <a:pPr>
              <a:spcAft>
                <a:spcPts val="1000"/>
              </a:spcAft>
              <a:defRPr sz="1800">
                <a:solidFill>
                  <a:srgbClr val="2B2E33"/>
                </a:solidFill>
                <a:latin typeface="Calibri"/>
              </a:defRPr>
            </a:pPr>
            <a:r>
              <a:t>-  Build comparison graphs and tables for the thesis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Calibri"/>
              </a:defRPr>
            </a:pPr>
            <a:r>
              <a:t>Fine-Tuning vs RAG vs Hybrid 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8F98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6E8"/>
                </a:solidFill>
                <a:latin typeface="Calibri"/>
              </a:defRPr>
            </a:pPr>
            <a:r>
              <a:t>Questions and discussion</a:t>
            </a:r>
          </a:p>
          <a:p>
            <a:pPr>
              <a:spcAft>
                <a:spcPts val="600"/>
              </a:spcAft>
              <a:defRPr sz="1600">
                <a:solidFill>
                  <a:srgbClr val="C9D6E8"/>
                </a:solidFill>
                <a:latin typeface="Calibri"/>
              </a:defRPr>
            </a:pPr>
            <a:r>
              <a:t>Nidwija Bhatta</a:t>
            </a:r>
          </a:p>
          <a:p>
            <a:pPr>
              <a:spcAft>
                <a:spcPts val="600"/>
              </a:spcAft>
              <a:defRPr sz="1600">
                <a:solidFill>
                  <a:srgbClr val="C9D6E8"/>
                </a:solidFill>
                <a:latin typeface="Calibri"/>
              </a:defRPr>
            </a:pPr>
            <a:r>
              <a:t>nidwija.bhatta@cotiviti.com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